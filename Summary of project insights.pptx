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33"/>
  </p:notesMasterIdLst>
  <p:sldIdLst>
    <p:sldId id="266" r:id="rId5"/>
    <p:sldId id="352" r:id="rId6"/>
    <p:sldId id="350" r:id="rId7"/>
    <p:sldId id="351" r:id="rId8"/>
    <p:sldId id="353" r:id="rId9"/>
    <p:sldId id="349" r:id="rId10"/>
    <p:sldId id="328" r:id="rId11"/>
    <p:sldId id="329" r:id="rId12"/>
    <p:sldId id="330" r:id="rId13"/>
    <p:sldId id="331" r:id="rId14"/>
    <p:sldId id="357" r:id="rId15"/>
    <p:sldId id="332" r:id="rId16"/>
    <p:sldId id="333" r:id="rId17"/>
    <p:sldId id="326" r:id="rId18"/>
    <p:sldId id="334" r:id="rId19"/>
    <p:sldId id="347" r:id="rId20"/>
    <p:sldId id="335" r:id="rId21"/>
    <p:sldId id="336" r:id="rId22"/>
    <p:sldId id="356" r:id="rId23"/>
    <p:sldId id="337" r:id="rId24"/>
    <p:sldId id="338" r:id="rId25"/>
    <p:sldId id="327" r:id="rId26"/>
    <p:sldId id="340" r:id="rId27"/>
    <p:sldId id="341" r:id="rId28"/>
    <p:sldId id="342" r:id="rId29"/>
    <p:sldId id="343" r:id="rId30"/>
    <p:sldId id="345" r:id="rId31"/>
    <p:sldId id="354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44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98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C61D37-CDE2-45D4-A107-FB0E15C2E0C5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CDFFEE-1D87-42E2-8A86-2BF8CE499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71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CDFFEE-1D87-42E2-8A86-2BF8CE4998F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210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5/2/2026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293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5/2/2026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98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5/2/2026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3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5/2/2026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61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5/2/2026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80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5/2/2026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77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5/2/2026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70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30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82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1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png"/><Relationship Id="rId7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.png"/><Relationship Id="rId7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.png"/><Relationship Id="rId7" Type="http://schemas.openxmlformats.org/officeDocument/2006/relationships/image" Target="../media/image4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.png"/><Relationship Id="rId7" Type="http://schemas.openxmlformats.org/officeDocument/2006/relationships/image" Target="../media/image4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3.png"/><Relationship Id="rId7" Type="http://schemas.openxmlformats.org/officeDocument/2006/relationships/image" Target="../media/image4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3.png"/><Relationship Id="rId7" Type="http://schemas.openxmlformats.org/officeDocument/2006/relationships/image" Target="../media/image5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microsoft.com/office/2007/relationships/hdphoto" Target="../media/hdphoto1.wdp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3.png"/><Relationship Id="rId7" Type="http://schemas.openxmlformats.org/officeDocument/2006/relationships/image" Target="../media/image5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microsoft.com/office/2007/relationships/hdphoto" Target="../media/hdphoto1.wdp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3.png"/><Relationship Id="rId7" Type="http://schemas.openxmlformats.org/officeDocument/2006/relationships/image" Target="../media/image6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microsoft.com/office/2007/relationships/hdphoto" Target="../media/hdphoto1.wdp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3.png"/><Relationship Id="rId7" Type="http://schemas.openxmlformats.org/officeDocument/2006/relationships/image" Target="../media/image6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microsoft.com/office/2007/relationships/hdphoto" Target="../media/hdphoto1.wdp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wansik-Tete" TargetMode="External"/><Relationship Id="rId2" Type="http://schemas.openxmlformats.org/officeDocument/2006/relationships/hyperlink" Target="mailto:teteswansik@mail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linkedin.com/in/swansik-tete-9628362a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peak Pro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639097"/>
            <a:ext cx="4813072" cy="3494791"/>
          </a:xfrm>
        </p:spPr>
        <p:txBody>
          <a:bodyPr>
            <a:noAutofit/>
          </a:bodyPr>
          <a:lstStyle/>
          <a:p>
            <a:r>
              <a:rPr lang="en-US" sz="6000" dirty="0"/>
              <a:t>NAVIGATING THE FUTURE OF ONLINE SHOPPING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9999" y="4455621"/>
            <a:ext cx="4829101" cy="1238616"/>
          </a:xfrm>
        </p:spPr>
        <p:txBody>
          <a:bodyPr>
            <a:normAutofit/>
          </a:bodyPr>
          <a:lstStyle/>
          <a:p>
            <a:r>
              <a:rPr lang="en-US" dirty="0"/>
              <a:t>Summary of the project </a:t>
            </a:r>
          </a:p>
          <a:p>
            <a:r>
              <a:rPr lang="en-US" sz="2200" dirty="0"/>
              <a:t>By -: </a:t>
            </a:r>
            <a:r>
              <a:rPr lang="en-US" sz="2200" dirty="0" err="1"/>
              <a:t>Swansik</a:t>
            </a:r>
            <a:r>
              <a:rPr lang="en-US" sz="2200" dirty="0"/>
              <a:t> Tete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58CBCAB-7801-9131-47CB-443EE10B0D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447" r="18829"/>
          <a:stretch>
            <a:fillRect/>
          </a:stretch>
        </p:blipFill>
        <p:spPr>
          <a:xfrm>
            <a:off x="0" y="-1"/>
            <a:ext cx="6394672" cy="685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DF9B-0D64-D031-74C6-2ED8CA9D6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Business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81173-B49B-26A4-8EF5-E1B49549C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business operates in the online shopping (e-commerce) sector, connecting customers with multiple sellers across different product categories. It manages orders, payments, and deliveries through a digital platform. The analysis helps understand overall business performance and identify areas for improvement.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453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3659D-14F3-2C4A-7D99-E5112C882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Purpose of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1A0C0-059B-F1EE-1731-22768A2D2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purpose of this analysis is to derive meaningful insights from sales data to understand category and seller performance, and evaluate the overall business performance for better decision-making.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provide valuable insights into the business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evaluate the performance of product categories and sellers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understand the overall revenue contribution and trends of the company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5550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1E9A1-AFC9-5EF4-F2A6-56DBE1A1C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7CF52-C5CD-94FA-54FD-FD84DDC9A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Dataset Files: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CUSTOMERS.csv – Customer demographic details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SELLERS.csv – Seller information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ORDER_ITEMS.csv – Order item details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PAYMENTS.csv – Payment details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ORDERS.csv – Order history and details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PRODUCTS.csv – Product details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7585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B448C-B578-5D62-B87D-6B4E40FEE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AND TOOLS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4DF2A-A62D-41D7-3939-CFD6BA9E9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SQL</a:t>
            </a:r>
            <a:r>
              <a:rPr lang="en-US" dirty="0"/>
              <a:t>:</a:t>
            </a:r>
            <a:r>
              <a:rPr lang="en-IN" dirty="0"/>
              <a:t> - </a:t>
            </a:r>
            <a:r>
              <a:rPr lang="en-US" dirty="0"/>
              <a:t>Import products.csv, orders.csv, customers.csv, and sellers.csv.</a:t>
            </a:r>
          </a:p>
          <a:p>
            <a:r>
              <a:rPr lang="en-US" b="1" dirty="0"/>
              <a:t>Python</a:t>
            </a:r>
            <a:r>
              <a:rPr lang="en-US" dirty="0"/>
              <a:t>:</a:t>
            </a:r>
            <a:r>
              <a:rPr lang="en-IN" dirty="0"/>
              <a:t> - </a:t>
            </a:r>
            <a:r>
              <a:rPr lang="en-US" dirty="0"/>
              <a:t>Use pandas to manipulate and visualize data.</a:t>
            </a:r>
            <a:endParaRPr lang="en-IN" dirty="0"/>
          </a:p>
          <a:p>
            <a:r>
              <a:rPr lang="en-US" b="1" dirty="0"/>
              <a:t>Query Execution</a:t>
            </a:r>
            <a:r>
              <a:rPr lang="en-US" dirty="0"/>
              <a:t>:</a:t>
            </a:r>
            <a:r>
              <a:rPr lang="en-IN" dirty="0"/>
              <a:t> - </a:t>
            </a:r>
            <a:r>
              <a:rPr lang="en-US" dirty="0"/>
              <a:t>Run SQL queries using MySQL Workbench and Phyton for cross check.</a:t>
            </a:r>
            <a:endParaRPr lang="en-IN" dirty="0"/>
          </a:p>
          <a:p>
            <a:r>
              <a:rPr lang="en-US" b="1" dirty="0"/>
              <a:t>Visualization</a:t>
            </a:r>
            <a:r>
              <a:rPr lang="en-US" dirty="0"/>
              <a:t>:</a:t>
            </a:r>
            <a:r>
              <a:rPr lang="en-IN" dirty="0"/>
              <a:t> - </a:t>
            </a:r>
            <a:r>
              <a:rPr lang="en-US" dirty="0"/>
              <a:t>Create graphs using Google </a:t>
            </a:r>
            <a:r>
              <a:rPr lang="en-US" dirty="0" err="1"/>
              <a:t>Colab</a:t>
            </a:r>
            <a:r>
              <a:rPr lang="en-US" dirty="0"/>
              <a:t>.</a:t>
            </a:r>
            <a:endParaRPr lang="en-IN" dirty="0"/>
          </a:p>
          <a:p>
            <a:r>
              <a:rPr lang="en-US" dirty="0"/>
              <a:t>Tools :-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MySQL Workbench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Python Libraries: Pandas, Matplotlib</a:t>
            </a:r>
            <a:endParaRPr lang="en-IN" dirty="0"/>
          </a:p>
          <a:p>
            <a:endParaRPr lang="en-IN" sz="600" dirty="0"/>
          </a:p>
        </p:txBody>
      </p:sp>
    </p:spTree>
    <p:extLst>
      <p:ext uri="{BB962C8B-B14F-4D97-AF65-F5344CB8AC3E}">
        <p14:creationId xmlns:p14="http://schemas.microsoft.com/office/powerpoint/2010/main" val="395145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8970D-0EF3-1CFF-3250-7FEE9BB9F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5946780-144E-96A5-43B8-F27AEE652FB8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662694" cy="65114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1.</a:t>
            </a:r>
            <a:endParaRPr lang="en-IN" sz="4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FEC39D0-BC1A-A283-C823-B1733574E612}"/>
              </a:ext>
            </a:extLst>
          </p:cNvPr>
          <p:cNvCxnSpPr/>
          <p:nvPr/>
        </p:nvCxnSpPr>
        <p:spPr>
          <a:xfrm>
            <a:off x="1071716" y="1130710"/>
            <a:ext cx="101665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A1F8995-4D9B-DF60-B474-23006D8515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17" t="29519" r="8588" b="30292"/>
          <a:stretch>
            <a:fillRect/>
          </a:stretch>
        </p:blipFill>
        <p:spPr>
          <a:xfrm>
            <a:off x="7662313" y="1323677"/>
            <a:ext cx="1456208" cy="4752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C90EDEB-738F-7D7D-7D52-2767BB9A1B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8625" r="93125">
                        <a14:foregroundMark x1="8625" y1="61375" x2="8625" y2="61375"/>
                        <a14:foregroundMark x1="30500" y1="63250" x2="30500" y2="63250"/>
                        <a14:foregroundMark x1="46875" y1="60250" x2="46875" y2="60250"/>
                        <a14:foregroundMark x1="60875" y1="62250" x2="60875" y2="62250"/>
                        <a14:foregroundMark x1="76625" y1="60500" x2="76625" y2="60500"/>
                        <a14:foregroundMark x1="93125" y1="66125" x2="93125" y2="66125"/>
                        <a14:foregroundMark x1="65625" y1="44625" x2="65625" y2="44625"/>
                        <a14:foregroundMark x1="87375" y1="49000" x2="87375" y2="49000"/>
                        <a14:foregroundMark x1="67750" y1="33375" x2="67750" y2="33375"/>
                      </a14:backgroundRemoval>
                    </a14:imgEffect>
                  </a14:imgLayer>
                </a14:imgProps>
              </a:ext>
            </a:extLst>
          </a:blip>
          <a:srcRect t="26641" b="24026"/>
          <a:stretch>
            <a:fillRect/>
          </a:stretch>
        </p:blipFill>
        <p:spPr>
          <a:xfrm>
            <a:off x="2194833" y="1264685"/>
            <a:ext cx="1169491" cy="576949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5F647D3-9159-B90E-1F65-0F15A33F5A47}"/>
              </a:ext>
            </a:extLst>
          </p:cNvPr>
          <p:cNvSpPr/>
          <p:nvPr/>
        </p:nvSpPr>
        <p:spPr>
          <a:xfrm>
            <a:off x="1248698" y="1975607"/>
            <a:ext cx="2841522" cy="145338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Code</a:t>
            </a:r>
            <a:endParaRPr lang="en-IN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9576DF0-9D5C-2830-C8D0-B2ED05D4611F}"/>
              </a:ext>
            </a:extLst>
          </p:cNvPr>
          <p:cNvSpPr/>
          <p:nvPr/>
        </p:nvSpPr>
        <p:spPr>
          <a:xfrm>
            <a:off x="1912374" y="347324"/>
            <a:ext cx="9252155" cy="59641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Questions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46E19EF-739E-DECC-CDE2-5F57658B3D5D}"/>
              </a:ext>
            </a:extLst>
          </p:cNvPr>
          <p:cNvSpPr/>
          <p:nvPr/>
        </p:nvSpPr>
        <p:spPr>
          <a:xfrm>
            <a:off x="7231627" y="1991891"/>
            <a:ext cx="2841522" cy="145338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Code</a:t>
            </a:r>
            <a:endParaRPr lang="en-IN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36E2AB4-5E5B-26E1-9F15-5D153B07F514}"/>
              </a:ext>
            </a:extLst>
          </p:cNvPr>
          <p:cNvSpPr/>
          <p:nvPr/>
        </p:nvSpPr>
        <p:spPr>
          <a:xfrm>
            <a:off x="1428627" y="4273888"/>
            <a:ext cx="1759975" cy="894735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Output</a:t>
            </a:r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3BC28A0-F3EF-BCC7-9659-8D3E7157CA08}"/>
              </a:ext>
            </a:extLst>
          </p:cNvPr>
          <p:cNvSpPr/>
          <p:nvPr/>
        </p:nvSpPr>
        <p:spPr>
          <a:xfrm>
            <a:off x="8030989" y="4082159"/>
            <a:ext cx="1759975" cy="894735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Outpu</a:t>
            </a: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01127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F8F0C-18C4-033D-6FEC-B32DDD1FF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PROBLEMS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1245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BB819B4-A6CB-5F3E-58AB-CD6D5511F11E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10058400" cy="65114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/>
              <a:t>1. List all unique cities where customers are located.</a:t>
            </a:r>
            <a:endParaRPr lang="en-IN" sz="4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51E4B59-5E21-2627-79F7-F47B9078F492}"/>
              </a:ext>
            </a:extLst>
          </p:cNvPr>
          <p:cNvCxnSpPr/>
          <p:nvPr/>
        </p:nvCxnSpPr>
        <p:spPr>
          <a:xfrm>
            <a:off x="1071716" y="1130710"/>
            <a:ext cx="101665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2068ABD-2E4D-AE69-F7D4-DB33D3750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16" y="2061288"/>
            <a:ext cx="4258269" cy="4001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5A53FB-0198-9AE8-7F60-3268AE512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045" y="2787014"/>
            <a:ext cx="3337068" cy="25692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908D64-EBC8-FF8A-8581-C475F637FA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1679" y="1959587"/>
            <a:ext cx="5357477" cy="6511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E7F871-EC7D-9B67-CA0B-620695ED55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4809" y="2663279"/>
            <a:ext cx="2931216" cy="28167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8BF2EC-7B34-71BE-A2BC-686C18843CA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317" t="29519" r="8588" b="30292"/>
          <a:stretch>
            <a:fillRect/>
          </a:stretch>
        </p:blipFill>
        <p:spPr>
          <a:xfrm>
            <a:off x="7662313" y="1323677"/>
            <a:ext cx="1456208" cy="4752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9EE0008-EF7A-1531-0001-3EFAFE6EB7F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8625" r="93125">
                        <a14:foregroundMark x1="8625" y1="61375" x2="8625" y2="61375"/>
                        <a14:foregroundMark x1="30500" y1="63250" x2="30500" y2="63250"/>
                        <a14:foregroundMark x1="46875" y1="60250" x2="46875" y2="60250"/>
                        <a14:foregroundMark x1="60875" y1="62250" x2="60875" y2="62250"/>
                        <a14:foregroundMark x1="76625" y1="60500" x2="76625" y2="60500"/>
                        <a14:foregroundMark x1="93125" y1="66125" x2="93125" y2="66125"/>
                        <a14:foregroundMark x1="65625" y1="44625" x2="65625" y2="44625"/>
                        <a14:foregroundMark x1="87375" y1="49000" x2="87375" y2="49000"/>
                        <a14:foregroundMark x1="67750" y1="33375" x2="67750" y2="33375"/>
                      </a14:backgroundRemoval>
                    </a14:imgEffect>
                  </a14:imgLayer>
                </a14:imgProps>
              </a:ext>
            </a:extLst>
          </a:blip>
          <a:srcRect t="26641" b="24026"/>
          <a:stretch>
            <a:fillRect/>
          </a:stretch>
        </p:blipFill>
        <p:spPr>
          <a:xfrm>
            <a:off x="2194833" y="1264685"/>
            <a:ext cx="1169491" cy="57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956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3AF44-3891-BC89-8136-164BC35BC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65D203E-FD7A-24B5-FAEC-C6E5D069F9D8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10058400" cy="65114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2. Count the number of orders placed in 2017.</a:t>
            </a:r>
            <a:endParaRPr lang="en-IN" sz="4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82068B4-9E31-976C-A8F4-019C06DA464B}"/>
              </a:ext>
            </a:extLst>
          </p:cNvPr>
          <p:cNvCxnSpPr/>
          <p:nvPr/>
        </p:nvCxnSpPr>
        <p:spPr>
          <a:xfrm>
            <a:off x="1071716" y="1130710"/>
            <a:ext cx="101665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153F2AD9-05BE-4A8F-DD81-B2F45FD598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17" t="29519" r="8588" b="30292"/>
          <a:stretch>
            <a:fillRect/>
          </a:stretch>
        </p:blipFill>
        <p:spPr>
          <a:xfrm>
            <a:off x="7662313" y="1323677"/>
            <a:ext cx="1456208" cy="4752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8954701-79B9-63F6-72EE-E4FE3EAECB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8625" r="93125">
                        <a14:foregroundMark x1="8625" y1="61375" x2="8625" y2="61375"/>
                        <a14:foregroundMark x1="30500" y1="63250" x2="30500" y2="63250"/>
                        <a14:foregroundMark x1="46875" y1="60250" x2="46875" y2="60250"/>
                        <a14:foregroundMark x1="60875" y1="62250" x2="60875" y2="62250"/>
                        <a14:foregroundMark x1="76625" y1="60500" x2="76625" y2="60500"/>
                        <a14:foregroundMark x1="93125" y1="66125" x2="93125" y2="66125"/>
                        <a14:foregroundMark x1="65625" y1="44625" x2="65625" y2="44625"/>
                        <a14:foregroundMark x1="87375" y1="49000" x2="87375" y2="49000"/>
                        <a14:foregroundMark x1="67750" y1="33375" x2="67750" y2="33375"/>
                      </a14:backgroundRemoval>
                    </a14:imgEffect>
                  </a14:imgLayer>
                </a14:imgProps>
              </a:ext>
            </a:extLst>
          </a:blip>
          <a:srcRect t="26641" b="24026"/>
          <a:stretch>
            <a:fillRect/>
          </a:stretch>
        </p:blipFill>
        <p:spPr>
          <a:xfrm>
            <a:off x="2194833" y="1274517"/>
            <a:ext cx="1169491" cy="5769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8B6913D-C749-7933-25AE-CA924E3EC7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864" y="2093592"/>
            <a:ext cx="3953427" cy="7811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ED3EB50-5DF2-4583-F040-8883D55382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0693" y="3429000"/>
            <a:ext cx="2117768" cy="84038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9BC6794-E69D-9131-EDC6-6DEFD98487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9096" y="2065013"/>
            <a:ext cx="6382641" cy="41915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B6981AD-689B-10B1-CB4C-37855A39DB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6720" y="3325334"/>
            <a:ext cx="1587391" cy="84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983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B03FB-93FD-B02C-382D-7E615C147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97FAF8-AF8D-5CD9-764A-3720E68FE233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10058400" cy="65114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3. Find the total sales per category.</a:t>
            </a:r>
            <a:endParaRPr lang="en-IN" sz="4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A8B6DD-3D05-222C-CCD8-7E7AA6374F4E}"/>
              </a:ext>
            </a:extLst>
          </p:cNvPr>
          <p:cNvCxnSpPr/>
          <p:nvPr/>
        </p:nvCxnSpPr>
        <p:spPr>
          <a:xfrm>
            <a:off x="1071716" y="1130710"/>
            <a:ext cx="101665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1051096-A34A-D280-2D73-1C68C4D350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17" t="29519" r="8588" b="30292"/>
          <a:stretch>
            <a:fillRect/>
          </a:stretch>
        </p:blipFill>
        <p:spPr>
          <a:xfrm>
            <a:off x="7662313" y="1323677"/>
            <a:ext cx="1456208" cy="4752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F08F7B-E5CB-FFA7-0042-015CABD45E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8625" r="93125">
                        <a14:foregroundMark x1="8625" y1="61375" x2="8625" y2="61375"/>
                        <a14:foregroundMark x1="30500" y1="63250" x2="30500" y2="63250"/>
                        <a14:foregroundMark x1="46875" y1="60250" x2="46875" y2="60250"/>
                        <a14:foregroundMark x1="60875" y1="62250" x2="60875" y2="62250"/>
                        <a14:foregroundMark x1="76625" y1="60500" x2="76625" y2="60500"/>
                        <a14:foregroundMark x1="93125" y1="66125" x2="93125" y2="66125"/>
                        <a14:foregroundMark x1="65625" y1="44625" x2="65625" y2="44625"/>
                        <a14:foregroundMark x1="87375" y1="49000" x2="87375" y2="49000"/>
                        <a14:foregroundMark x1="67750" y1="33375" x2="67750" y2="33375"/>
                      </a14:backgroundRemoval>
                    </a14:imgEffect>
                  </a14:imgLayer>
                </a14:imgProps>
              </a:ext>
            </a:extLst>
          </a:blip>
          <a:srcRect t="26641" b="24026"/>
          <a:stretch>
            <a:fillRect/>
          </a:stretch>
        </p:blipFill>
        <p:spPr>
          <a:xfrm>
            <a:off x="2194833" y="1264685"/>
            <a:ext cx="1169491" cy="576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717172-B506-A23E-8E88-3459EBB691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243" y="2072684"/>
            <a:ext cx="4918828" cy="16756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AE677C-B474-7661-2C5C-B1C6E6E360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982" y="3920359"/>
            <a:ext cx="3217503" cy="22444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149D3B5-B068-3852-732D-C1939BE715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0529" y="2504010"/>
            <a:ext cx="6135329" cy="59644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07C7B38-7A53-8B51-9DEF-7995803352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0374" y="3549429"/>
            <a:ext cx="3217503" cy="2615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781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A3E04-19D5-1A29-66A6-A4FEED327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AA23494-1638-454D-8C28-60F6A8922B2E}"/>
              </a:ext>
            </a:extLst>
          </p:cNvPr>
          <p:cNvSpPr txBox="1">
            <a:spLocks/>
          </p:cNvSpPr>
          <p:nvPr/>
        </p:nvSpPr>
        <p:spPr>
          <a:xfrm>
            <a:off x="570271" y="286603"/>
            <a:ext cx="10585409" cy="65114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Total Revenue Contribution by product</a:t>
            </a:r>
            <a:endParaRPr lang="en-IN" sz="4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6802749-DADA-4E4E-0B88-FC43D637CC4E}"/>
              </a:ext>
            </a:extLst>
          </p:cNvPr>
          <p:cNvCxnSpPr/>
          <p:nvPr/>
        </p:nvCxnSpPr>
        <p:spPr>
          <a:xfrm>
            <a:off x="1071716" y="1022555"/>
            <a:ext cx="101665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F594190A-BCD9-E8A7-206A-A966A3BBA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99" y="1286558"/>
            <a:ext cx="8174752" cy="429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064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AC498-221D-200D-0EF6-B2BE184B1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D4433D9-C66B-9624-1255-E5BA359E2811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10058400" cy="651141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4. Calculate the percentage of orders that were paid in installments.</a:t>
            </a:r>
            <a:endParaRPr lang="en-IN" sz="4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FB15F94-9360-EF6D-75C1-29818706278E}"/>
              </a:ext>
            </a:extLst>
          </p:cNvPr>
          <p:cNvCxnSpPr/>
          <p:nvPr/>
        </p:nvCxnSpPr>
        <p:spPr>
          <a:xfrm>
            <a:off x="1071716" y="1130710"/>
            <a:ext cx="101665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2F5DCDAB-C1C3-663C-4864-E69C7371C1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17" t="29519" r="8588" b="30292"/>
          <a:stretch>
            <a:fillRect/>
          </a:stretch>
        </p:blipFill>
        <p:spPr>
          <a:xfrm>
            <a:off x="7662313" y="1323677"/>
            <a:ext cx="1456208" cy="4752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2B1BF03-4B77-1D75-93A5-9DB4CE2FDF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8625" r="93125">
                        <a14:foregroundMark x1="8625" y1="61375" x2="8625" y2="61375"/>
                        <a14:foregroundMark x1="30500" y1="63250" x2="30500" y2="63250"/>
                        <a14:foregroundMark x1="46875" y1="60250" x2="46875" y2="60250"/>
                        <a14:foregroundMark x1="60875" y1="62250" x2="60875" y2="62250"/>
                        <a14:foregroundMark x1="76625" y1="60500" x2="76625" y2="60500"/>
                        <a14:foregroundMark x1="93125" y1="66125" x2="93125" y2="66125"/>
                        <a14:foregroundMark x1="65625" y1="44625" x2="65625" y2="44625"/>
                        <a14:foregroundMark x1="87375" y1="49000" x2="87375" y2="49000"/>
                        <a14:foregroundMark x1="67750" y1="33375" x2="67750" y2="33375"/>
                      </a14:backgroundRemoval>
                    </a14:imgEffect>
                  </a14:imgLayer>
                </a14:imgProps>
              </a:ext>
            </a:extLst>
          </a:blip>
          <a:srcRect t="26641" b="24026"/>
          <a:stretch>
            <a:fillRect/>
          </a:stretch>
        </p:blipFill>
        <p:spPr>
          <a:xfrm>
            <a:off x="2194833" y="1254853"/>
            <a:ext cx="1169491" cy="5769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0E6B53-45BB-2328-3C60-F9FFF10F25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30" y="2015690"/>
            <a:ext cx="5458587" cy="153373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4EA37CD-6612-B627-8C3C-B94A08054E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9430" y="3664493"/>
            <a:ext cx="2729294" cy="254449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62E5802-29EE-D24E-EB24-6B2E542A16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1827" y="2285304"/>
            <a:ext cx="5085143" cy="65731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0A16487-ECE9-0D2C-1BF0-D60C4F73FB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6291" y="3429000"/>
            <a:ext cx="3419425" cy="254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074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B57C1-B42C-418C-164D-74FE81CF7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21C4A3F-A1EC-C0ED-B3B3-4007F2005D33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10058400" cy="65114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5. Count the number of customers from each state.</a:t>
            </a:r>
            <a:endParaRPr lang="en-IN" sz="4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38674A-6A6E-D8BC-5B96-33F7736FA7D5}"/>
              </a:ext>
            </a:extLst>
          </p:cNvPr>
          <p:cNvCxnSpPr/>
          <p:nvPr/>
        </p:nvCxnSpPr>
        <p:spPr>
          <a:xfrm>
            <a:off x="1071716" y="1130710"/>
            <a:ext cx="101665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87394E5D-0EA3-4300-F0EA-E77EE4FC57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17" t="29519" r="8588" b="30292"/>
          <a:stretch>
            <a:fillRect/>
          </a:stretch>
        </p:blipFill>
        <p:spPr>
          <a:xfrm>
            <a:off x="7662313" y="1323677"/>
            <a:ext cx="1456208" cy="4752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906BB26-EE6C-ACCA-EBDF-AE260B99AC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8625" r="93125">
                        <a14:foregroundMark x1="8625" y1="61375" x2="8625" y2="61375"/>
                        <a14:foregroundMark x1="30500" y1="63250" x2="30500" y2="63250"/>
                        <a14:foregroundMark x1="46875" y1="60250" x2="46875" y2="60250"/>
                        <a14:foregroundMark x1="60875" y1="62250" x2="60875" y2="62250"/>
                        <a14:foregroundMark x1="76625" y1="60500" x2="76625" y2="60500"/>
                        <a14:foregroundMark x1="93125" y1="66125" x2="93125" y2="66125"/>
                        <a14:foregroundMark x1="65625" y1="44625" x2="65625" y2="44625"/>
                        <a14:foregroundMark x1="87375" y1="49000" x2="87375" y2="49000"/>
                        <a14:foregroundMark x1="67750" y1="33375" x2="67750" y2="33375"/>
                      </a14:backgroundRemoval>
                    </a14:imgEffect>
                  </a14:imgLayer>
                </a14:imgProps>
              </a:ext>
            </a:extLst>
          </a:blip>
          <a:srcRect t="26641" b="24026"/>
          <a:stretch>
            <a:fillRect/>
          </a:stretch>
        </p:blipFill>
        <p:spPr>
          <a:xfrm>
            <a:off x="2194833" y="1323677"/>
            <a:ext cx="1169491" cy="5769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6E0BCA-659A-78D1-22A5-B750A1FB56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30" y="2220531"/>
            <a:ext cx="5382376" cy="962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B591DA-39CF-1A94-5DB5-300178C66C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741" y="3502595"/>
            <a:ext cx="3652272" cy="23488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753C7D-6D98-1933-C31A-EFC6AA10F4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3756" y="2157175"/>
            <a:ext cx="5895483" cy="4106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2762D9-2A99-30F6-D2B9-C800D0C549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1105" y="3113863"/>
            <a:ext cx="3092263" cy="285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093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DD1F9-6C54-E7AE-31E3-C13CA1F48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INTERMEDIATE PROBLEMS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6946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EDDFE-69D9-6774-6326-C8ED8F302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26DCED4-1F17-1539-C998-8239D3E7AF28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10058400" cy="651141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1. Calculate the number of orders per month in 2018.</a:t>
            </a:r>
            <a:endParaRPr lang="en-IN" sz="4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AC275B2-7B02-89EE-0F35-11DBFAAFA258}"/>
              </a:ext>
            </a:extLst>
          </p:cNvPr>
          <p:cNvCxnSpPr/>
          <p:nvPr/>
        </p:nvCxnSpPr>
        <p:spPr>
          <a:xfrm>
            <a:off x="1071716" y="1130710"/>
            <a:ext cx="101665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DB5A6FC9-B3A5-D6A3-A340-94AA257B35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17" t="29519" r="8588" b="30292"/>
          <a:stretch>
            <a:fillRect/>
          </a:stretch>
        </p:blipFill>
        <p:spPr>
          <a:xfrm>
            <a:off x="7662313" y="1323677"/>
            <a:ext cx="1456208" cy="4752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7515C98-E4A5-A728-F091-A6C22C0BD7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8625" r="93125">
                        <a14:foregroundMark x1="8625" y1="61375" x2="8625" y2="61375"/>
                        <a14:foregroundMark x1="30500" y1="63250" x2="30500" y2="63250"/>
                        <a14:foregroundMark x1="46875" y1="60250" x2="46875" y2="60250"/>
                        <a14:foregroundMark x1="60875" y1="62250" x2="60875" y2="62250"/>
                        <a14:foregroundMark x1="76625" y1="60500" x2="76625" y2="60500"/>
                        <a14:foregroundMark x1="93125" y1="66125" x2="93125" y2="66125"/>
                        <a14:foregroundMark x1="65625" y1="44625" x2="65625" y2="44625"/>
                        <a14:foregroundMark x1="87375" y1="49000" x2="87375" y2="49000"/>
                        <a14:foregroundMark x1="67750" y1="33375" x2="67750" y2="33375"/>
                      </a14:backgroundRemoval>
                    </a14:imgEffect>
                  </a14:imgLayer>
                </a14:imgProps>
              </a:ext>
            </a:extLst>
          </a:blip>
          <a:srcRect t="26641" b="24026"/>
          <a:stretch>
            <a:fillRect/>
          </a:stretch>
        </p:blipFill>
        <p:spPr>
          <a:xfrm>
            <a:off x="2194833" y="1235189"/>
            <a:ext cx="1169491" cy="5769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55E48C-BAED-1ADE-ED25-6AA4A5F99E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368" y="1957177"/>
            <a:ext cx="4620270" cy="15527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85881A-5CD1-E855-1E59-261CA66092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7508" y="3719730"/>
            <a:ext cx="2309756" cy="21274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BA06FCC-8F12-58CC-90E6-E18290D686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4057" y="1821018"/>
            <a:ext cx="4241361" cy="19610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BF8D44E-0400-D796-C23E-91CB179731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7950" y="3846869"/>
            <a:ext cx="1690571" cy="219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6542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BA9C0-886D-37E4-C38C-5CA0C15A0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47D0A6D-60F7-5AC6-223F-D6A2FFF09D7D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10058400" cy="65114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Orders Visualization for 2018.</a:t>
            </a:r>
            <a:endParaRPr lang="en-IN" sz="4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2D9E094-1BDD-25B2-7020-25443D48BC9B}"/>
              </a:ext>
            </a:extLst>
          </p:cNvPr>
          <p:cNvCxnSpPr/>
          <p:nvPr/>
        </p:nvCxnSpPr>
        <p:spPr>
          <a:xfrm>
            <a:off x="1071716" y="1130710"/>
            <a:ext cx="101665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19407661-37D8-1417-B55F-2D06666F8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13" y="1295400"/>
            <a:ext cx="8181975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6168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86DC1-B9EC-0BBB-145C-720AB9F72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59BDAF4-9C6C-69AB-36AA-379C6FFB20A6}"/>
              </a:ext>
            </a:extLst>
          </p:cNvPr>
          <p:cNvSpPr txBox="1">
            <a:spLocks/>
          </p:cNvSpPr>
          <p:nvPr/>
        </p:nvSpPr>
        <p:spPr>
          <a:xfrm>
            <a:off x="708368" y="286603"/>
            <a:ext cx="10447312" cy="651141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2. Find the average number of products per order grouped by customer city.</a:t>
            </a:r>
            <a:endParaRPr lang="en-IN" sz="4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8BAAC76-C78F-06AF-BF33-7CF4BD106C7D}"/>
              </a:ext>
            </a:extLst>
          </p:cNvPr>
          <p:cNvCxnSpPr/>
          <p:nvPr/>
        </p:nvCxnSpPr>
        <p:spPr>
          <a:xfrm>
            <a:off x="1071716" y="1130710"/>
            <a:ext cx="101665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289706B4-2438-3BA8-D810-69D4410ADC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17" t="29519" r="8588" b="30292"/>
          <a:stretch>
            <a:fillRect/>
          </a:stretch>
        </p:blipFill>
        <p:spPr>
          <a:xfrm>
            <a:off x="7662313" y="1323677"/>
            <a:ext cx="1456208" cy="4752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538803-F576-8382-5584-30D7BE4D3C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8625" r="93125">
                        <a14:foregroundMark x1="8625" y1="61375" x2="8625" y2="61375"/>
                        <a14:foregroundMark x1="30500" y1="63250" x2="30500" y2="63250"/>
                        <a14:foregroundMark x1="46875" y1="60250" x2="46875" y2="60250"/>
                        <a14:foregroundMark x1="60875" y1="62250" x2="60875" y2="62250"/>
                        <a14:foregroundMark x1="76625" y1="60500" x2="76625" y2="60500"/>
                        <a14:foregroundMark x1="93125" y1="66125" x2="93125" y2="66125"/>
                        <a14:foregroundMark x1="65625" y1="44625" x2="65625" y2="44625"/>
                        <a14:foregroundMark x1="87375" y1="49000" x2="87375" y2="49000"/>
                        <a14:foregroundMark x1="67750" y1="33375" x2="67750" y2="33375"/>
                      </a14:backgroundRemoval>
                    </a14:imgEffect>
                  </a14:imgLayer>
                </a14:imgProps>
              </a:ext>
            </a:extLst>
          </a:blip>
          <a:srcRect t="26641" b="24026"/>
          <a:stretch>
            <a:fillRect/>
          </a:stretch>
        </p:blipFill>
        <p:spPr>
          <a:xfrm>
            <a:off x="2194833" y="1225357"/>
            <a:ext cx="1169491" cy="5769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A574445-AF14-7AFA-53C4-1797F2D5F5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0426" y="1792474"/>
            <a:ext cx="3533625" cy="22637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E2E702-8B68-3949-3CE1-B5C0197653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6813" y="4350354"/>
            <a:ext cx="2905530" cy="165758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9C97D0E-43B0-9748-9531-766CA2F48D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9221" y="1798925"/>
            <a:ext cx="3533626" cy="239821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FDF84D2-C416-A061-2E24-84C6F565C1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7643" y="4197138"/>
            <a:ext cx="2605548" cy="182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598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EA4FC-110C-4672-6206-6A41C026D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4480D12-D260-C593-4910-64EE69F283A4}"/>
              </a:ext>
            </a:extLst>
          </p:cNvPr>
          <p:cNvSpPr txBox="1">
            <a:spLocks/>
          </p:cNvSpPr>
          <p:nvPr/>
        </p:nvSpPr>
        <p:spPr>
          <a:xfrm>
            <a:off x="570271" y="286603"/>
            <a:ext cx="10585409" cy="651141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3. Calculate the percentage of total revenue contributed by each product category.</a:t>
            </a:r>
            <a:endParaRPr lang="en-IN" sz="4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E701F59-BD42-07AD-E783-ACEA168DE8F8}"/>
              </a:ext>
            </a:extLst>
          </p:cNvPr>
          <p:cNvCxnSpPr/>
          <p:nvPr/>
        </p:nvCxnSpPr>
        <p:spPr>
          <a:xfrm>
            <a:off x="1071716" y="786580"/>
            <a:ext cx="101665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74B45E69-DB0D-9AD7-71F1-38F6204484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17" t="29519" r="8588" b="30292"/>
          <a:stretch>
            <a:fillRect/>
          </a:stretch>
        </p:blipFill>
        <p:spPr>
          <a:xfrm>
            <a:off x="7662313" y="959883"/>
            <a:ext cx="1456208" cy="4752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3FB8B8-5D74-8DCF-D2BF-CB9A15AE16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8625" r="93125">
                        <a14:foregroundMark x1="8625" y1="61375" x2="8625" y2="61375"/>
                        <a14:foregroundMark x1="30500" y1="63250" x2="30500" y2="63250"/>
                        <a14:foregroundMark x1="46875" y1="60250" x2="46875" y2="60250"/>
                        <a14:foregroundMark x1="60875" y1="62250" x2="60875" y2="62250"/>
                        <a14:foregroundMark x1="76625" y1="60500" x2="76625" y2="60500"/>
                        <a14:foregroundMark x1="93125" y1="66125" x2="93125" y2="66125"/>
                        <a14:foregroundMark x1="65625" y1="44625" x2="65625" y2="44625"/>
                        <a14:foregroundMark x1="87375" y1="49000" x2="87375" y2="49000"/>
                        <a14:foregroundMark x1="67750" y1="33375" x2="67750" y2="33375"/>
                      </a14:backgroundRemoval>
                    </a14:imgEffect>
                  </a14:imgLayer>
                </a14:imgProps>
              </a:ext>
            </a:extLst>
          </a:blip>
          <a:srcRect t="26641" b="24026"/>
          <a:stretch>
            <a:fillRect/>
          </a:stretch>
        </p:blipFill>
        <p:spPr>
          <a:xfrm>
            <a:off x="2194833" y="999216"/>
            <a:ext cx="1169491" cy="5769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BADE36-A524-332D-CBFE-F525234B4C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4993" y="1608432"/>
            <a:ext cx="5199977" cy="16952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0A7181-6374-235B-3A47-338A9A5360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4993" y="3683418"/>
            <a:ext cx="4820071" cy="20979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87DE74B-A6B9-5935-8E6E-2E4964276A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435" y="1659169"/>
            <a:ext cx="4250942" cy="14560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825DB6F-9B29-96F7-ADBC-87B0A35C9D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771" y="3976246"/>
            <a:ext cx="4435969" cy="145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2010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605B7-9526-C133-B947-3B376618C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297AB39-FEBF-4D74-21D1-8C5243F467F7}"/>
              </a:ext>
            </a:extLst>
          </p:cNvPr>
          <p:cNvSpPr txBox="1">
            <a:spLocks/>
          </p:cNvSpPr>
          <p:nvPr/>
        </p:nvSpPr>
        <p:spPr>
          <a:xfrm>
            <a:off x="570271" y="286603"/>
            <a:ext cx="10585409" cy="65114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Total Revenue Contribution by product</a:t>
            </a:r>
            <a:endParaRPr lang="en-IN" sz="4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9B7C0A-D447-AC2E-008D-A055B068C9B6}"/>
              </a:ext>
            </a:extLst>
          </p:cNvPr>
          <p:cNvCxnSpPr/>
          <p:nvPr/>
        </p:nvCxnSpPr>
        <p:spPr>
          <a:xfrm>
            <a:off x="1071716" y="1022555"/>
            <a:ext cx="101665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C0056B16-5DAE-5C13-5BCE-6F3CAA7C4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99" y="1286558"/>
            <a:ext cx="8174752" cy="429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445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F5DF8-B394-91B4-6369-A26FCEA05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745ADD1-146D-CCD5-2C57-3BCFD848A268}"/>
              </a:ext>
            </a:extLst>
          </p:cNvPr>
          <p:cNvSpPr txBox="1">
            <a:spLocks/>
          </p:cNvSpPr>
          <p:nvPr/>
        </p:nvSpPr>
        <p:spPr>
          <a:xfrm>
            <a:off x="570271" y="286603"/>
            <a:ext cx="10585409" cy="651141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4. Identify the correlation between product price and the number of times a product has been purchased.</a:t>
            </a:r>
            <a:endParaRPr lang="en-IN" sz="4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33332E9-49BB-55BA-10BF-54D7163265E5}"/>
              </a:ext>
            </a:extLst>
          </p:cNvPr>
          <p:cNvCxnSpPr/>
          <p:nvPr/>
        </p:nvCxnSpPr>
        <p:spPr>
          <a:xfrm>
            <a:off x="1071716" y="1130710"/>
            <a:ext cx="101665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175726EA-EBF8-89ED-6D6B-85741A0BF4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17" t="29519" r="8588" b="30292"/>
          <a:stretch>
            <a:fillRect/>
          </a:stretch>
        </p:blipFill>
        <p:spPr>
          <a:xfrm>
            <a:off x="7662313" y="1323677"/>
            <a:ext cx="1456208" cy="4752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1F39D3-C93D-4C01-923A-3F0030FC3B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8625" r="93125">
                        <a14:foregroundMark x1="8625" y1="61375" x2="8625" y2="61375"/>
                        <a14:foregroundMark x1="30500" y1="63250" x2="30500" y2="63250"/>
                        <a14:foregroundMark x1="46875" y1="60250" x2="46875" y2="60250"/>
                        <a14:foregroundMark x1="60875" y1="62250" x2="60875" y2="62250"/>
                        <a14:foregroundMark x1="76625" y1="60500" x2="76625" y2="60500"/>
                        <a14:foregroundMark x1="93125" y1="66125" x2="93125" y2="66125"/>
                        <a14:foregroundMark x1="65625" y1="44625" x2="65625" y2="44625"/>
                        <a14:foregroundMark x1="87375" y1="49000" x2="87375" y2="49000"/>
                        <a14:foregroundMark x1="67750" y1="33375" x2="67750" y2="33375"/>
                      </a14:backgroundRemoval>
                    </a14:imgEffect>
                  </a14:imgLayer>
                </a14:imgProps>
              </a:ext>
            </a:extLst>
          </a:blip>
          <a:srcRect t="26641" b="24026"/>
          <a:stretch>
            <a:fillRect/>
          </a:stretch>
        </p:blipFill>
        <p:spPr>
          <a:xfrm>
            <a:off x="2204665" y="1225357"/>
            <a:ext cx="1169491" cy="5769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2D84B2-F89D-78CE-FF0D-0D723D85CE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20" y="1935170"/>
            <a:ext cx="4954587" cy="16944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BB39BF-B107-AD01-A312-E92A063718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1750" y="4476607"/>
            <a:ext cx="2082914" cy="5761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68DDAAD-5B11-DC25-E64A-B669814105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0190" y="1900626"/>
            <a:ext cx="4771290" cy="18295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E31DCE1-E199-BCC0-6968-40B25F8682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8296" y="4476607"/>
            <a:ext cx="3477110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420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EFD9A-EFB4-7DA3-DDEF-722DD7E8C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6287057-FD50-B723-0AF4-54ECD9BF37C2}"/>
              </a:ext>
            </a:extLst>
          </p:cNvPr>
          <p:cNvSpPr txBox="1">
            <a:spLocks/>
          </p:cNvSpPr>
          <p:nvPr/>
        </p:nvSpPr>
        <p:spPr>
          <a:xfrm>
            <a:off x="570271" y="286603"/>
            <a:ext cx="10585409" cy="651141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5. Calculate the total revenue generated by each seller and rank them by revenue.</a:t>
            </a:r>
            <a:endParaRPr lang="en-IN" sz="4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0AF52F-6320-5765-1103-8D86F72931F5}"/>
              </a:ext>
            </a:extLst>
          </p:cNvPr>
          <p:cNvCxnSpPr/>
          <p:nvPr/>
        </p:nvCxnSpPr>
        <p:spPr>
          <a:xfrm>
            <a:off x="1071716" y="1130710"/>
            <a:ext cx="101665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CE3EAA9-8ED5-B77C-8640-1FBCD09CFF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17" t="29519" r="8588" b="30292"/>
          <a:stretch>
            <a:fillRect/>
          </a:stretch>
        </p:blipFill>
        <p:spPr>
          <a:xfrm>
            <a:off x="7662313" y="1323677"/>
            <a:ext cx="1456208" cy="4752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0389A50-547B-9DD6-19B9-22846A4BC3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8625" r="93125">
                        <a14:foregroundMark x1="8625" y1="61375" x2="8625" y2="61375"/>
                        <a14:foregroundMark x1="30500" y1="63250" x2="30500" y2="63250"/>
                        <a14:foregroundMark x1="46875" y1="60250" x2="46875" y2="60250"/>
                        <a14:foregroundMark x1="60875" y1="62250" x2="60875" y2="62250"/>
                        <a14:foregroundMark x1="76625" y1="60500" x2="76625" y2="60500"/>
                        <a14:foregroundMark x1="93125" y1="66125" x2="93125" y2="66125"/>
                        <a14:foregroundMark x1="65625" y1="44625" x2="65625" y2="44625"/>
                        <a14:foregroundMark x1="87375" y1="49000" x2="87375" y2="49000"/>
                        <a14:foregroundMark x1="67750" y1="33375" x2="67750" y2="33375"/>
                      </a14:backgroundRemoval>
                    </a14:imgEffect>
                  </a14:imgLayer>
                </a14:imgProps>
              </a:ext>
            </a:extLst>
          </a:blip>
          <a:srcRect t="26641" b="24026"/>
          <a:stretch>
            <a:fillRect/>
          </a:stretch>
        </p:blipFill>
        <p:spPr>
          <a:xfrm>
            <a:off x="2194833" y="1225357"/>
            <a:ext cx="1169491" cy="5769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BD3244-0AE4-43BF-7976-C16ECD02E1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1373" y="2151460"/>
            <a:ext cx="4548619" cy="14390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8B7986-F661-8126-9E17-1F00099AA6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342" y="4391464"/>
            <a:ext cx="4630956" cy="14390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F8D312D-EA30-14B7-EA00-32624E5A47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0996" y="1798925"/>
            <a:ext cx="4609631" cy="219086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7C45B46-7478-6108-BA35-AE83F2BEA2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0996" y="3989786"/>
            <a:ext cx="4511408" cy="192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4679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81D83-140D-2496-B69B-B24747319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PROBLEMS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49148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06612-F25D-656D-A1EE-80DEB8891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9E0FBAC-F56A-DFB6-6E9C-A175AD562B1F}"/>
              </a:ext>
            </a:extLst>
          </p:cNvPr>
          <p:cNvSpPr txBox="1">
            <a:spLocks/>
          </p:cNvSpPr>
          <p:nvPr/>
        </p:nvSpPr>
        <p:spPr>
          <a:xfrm>
            <a:off x="570271" y="286603"/>
            <a:ext cx="10585409" cy="651141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1. Calculate the moving average of order values for each customer over their order history.</a:t>
            </a:r>
            <a:endParaRPr lang="en-IN" sz="4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946DF03-BF9B-9E9B-0F89-80F6B5A52756}"/>
              </a:ext>
            </a:extLst>
          </p:cNvPr>
          <p:cNvCxnSpPr/>
          <p:nvPr/>
        </p:nvCxnSpPr>
        <p:spPr>
          <a:xfrm>
            <a:off x="1071716" y="1130710"/>
            <a:ext cx="101665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238D8469-E142-1DC8-85F0-0A754798A1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17" t="29519" r="8588" b="30292"/>
          <a:stretch>
            <a:fillRect/>
          </a:stretch>
        </p:blipFill>
        <p:spPr>
          <a:xfrm>
            <a:off x="7662313" y="1323677"/>
            <a:ext cx="1456208" cy="4752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BA59BF-4583-41C5-CF79-968D3A9B8D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8625" r="93125">
                        <a14:foregroundMark x1="8625" y1="61375" x2="8625" y2="61375"/>
                        <a14:foregroundMark x1="30500" y1="63250" x2="30500" y2="63250"/>
                        <a14:foregroundMark x1="46875" y1="60250" x2="46875" y2="60250"/>
                        <a14:foregroundMark x1="60875" y1="62250" x2="60875" y2="62250"/>
                        <a14:foregroundMark x1="76625" y1="60500" x2="76625" y2="60500"/>
                        <a14:foregroundMark x1="93125" y1="66125" x2="93125" y2="66125"/>
                        <a14:foregroundMark x1="65625" y1="44625" x2="65625" y2="44625"/>
                        <a14:foregroundMark x1="87375" y1="49000" x2="87375" y2="49000"/>
                        <a14:foregroundMark x1="67750" y1="33375" x2="67750" y2="33375"/>
                      </a14:backgroundRemoval>
                    </a14:imgEffect>
                  </a14:imgLayer>
                </a14:imgProps>
              </a:ext>
            </a:extLst>
          </a:blip>
          <a:srcRect t="26641" b="24026"/>
          <a:stretch>
            <a:fillRect/>
          </a:stretch>
        </p:blipFill>
        <p:spPr>
          <a:xfrm>
            <a:off x="2194833" y="1215525"/>
            <a:ext cx="1169491" cy="5769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805D10-2960-544D-100F-ADB53AB056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685" y="1803446"/>
            <a:ext cx="4406441" cy="20880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1A8F89-B3FC-B4D4-236B-2422BCCD0E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685" y="4345895"/>
            <a:ext cx="4582164" cy="16861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8371D95-DFE4-D6D5-F0F8-237E1A6F39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1555" y="1900625"/>
            <a:ext cx="4511408" cy="21145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A9414D2-C7A3-12E9-FB0B-4FF226B0C4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2975" y="4304816"/>
            <a:ext cx="6127350" cy="142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2042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D208D-A344-650E-8216-0A3ECA882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139359B-33AD-5B63-014C-B2BC1CB27533}"/>
              </a:ext>
            </a:extLst>
          </p:cNvPr>
          <p:cNvSpPr txBox="1">
            <a:spLocks/>
          </p:cNvSpPr>
          <p:nvPr/>
        </p:nvSpPr>
        <p:spPr>
          <a:xfrm>
            <a:off x="570271" y="286603"/>
            <a:ext cx="10585409" cy="651141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2. Calculate the cumulative sales per month for each year.</a:t>
            </a:r>
            <a:endParaRPr lang="en-IN" sz="4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A97E2E6-9A9E-F51D-1DC7-06A966A68A23}"/>
              </a:ext>
            </a:extLst>
          </p:cNvPr>
          <p:cNvCxnSpPr/>
          <p:nvPr/>
        </p:nvCxnSpPr>
        <p:spPr>
          <a:xfrm>
            <a:off x="1071716" y="1130710"/>
            <a:ext cx="101665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58AC6163-0826-1F70-78A7-E7F185D3C9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17" t="29519" r="8588" b="30292"/>
          <a:stretch>
            <a:fillRect/>
          </a:stretch>
        </p:blipFill>
        <p:spPr>
          <a:xfrm>
            <a:off x="7662313" y="1323677"/>
            <a:ext cx="1456208" cy="4752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CE08B2-59D5-EED4-6A09-B2CD871EB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8625" r="93125">
                        <a14:foregroundMark x1="8625" y1="61375" x2="8625" y2="61375"/>
                        <a14:foregroundMark x1="30500" y1="63250" x2="30500" y2="63250"/>
                        <a14:foregroundMark x1="46875" y1="60250" x2="46875" y2="60250"/>
                        <a14:foregroundMark x1="60875" y1="62250" x2="60875" y2="62250"/>
                        <a14:foregroundMark x1="76625" y1="60500" x2="76625" y2="60500"/>
                        <a14:foregroundMark x1="93125" y1="66125" x2="93125" y2="66125"/>
                        <a14:foregroundMark x1="65625" y1="44625" x2="65625" y2="44625"/>
                        <a14:foregroundMark x1="87375" y1="49000" x2="87375" y2="49000"/>
                        <a14:foregroundMark x1="67750" y1="33375" x2="67750" y2="33375"/>
                      </a14:backgroundRemoval>
                    </a14:imgEffect>
                  </a14:imgLayer>
                </a14:imgProps>
              </a:ext>
            </a:extLst>
          </a:blip>
          <a:srcRect t="26641" b="24026"/>
          <a:stretch>
            <a:fillRect/>
          </a:stretch>
        </p:blipFill>
        <p:spPr>
          <a:xfrm>
            <a:off x="2194833" y="1225357"/>
            <a:ext cx="1169491" cy="5769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19DEFFE-342D-AEB6-6842-BCB41E1107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1567" y="1819511"/>
            <a:ext cx="3183384" cy="19785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89537B-9CE4-C49D-475E-096FA93FA0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154" y="4181804"/>
            <a:ext cx="4286848" cy="18766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A93FC54-06E6-ECA5-4909-ABEEB8A796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4294" y="1798925"/>
            <a:ext cx="4060292" cy="216583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94D5A31-8F8B-4C56-1024-609B991A18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8216" y="4037228"/>
            <a:ext cx="3734203" cy="216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1536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DD462-6784-82B5-37D7-C4A434956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3166518-8554-BFEB-331E-FE372492A946}"/>
              </a:ext>
            </a:extLst>
          </p:cNvPr>
          <p:cNvSpPr txBox="1">
            <a:spLocks/>
          </p:cNvSpPr>
          <p:nvPr/>
        </p:nvSpPr>
        <p:spPr>
          <a:xfrm>
            <a:off x="570271" y="286603"/>
            <a:ext cx="10585409" cy="651141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3. Calculate the year‑over‑year growth rate of total sales.</a:t>
            </a:r>
            <a:endParaRPr lang="en-IN" sz="4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09BEB1B-6F3D-76E8-3563-425623E4F6A5}"/>
              </a:ext>
            </a:extLst>
          </p:cNvPr>
          <p:cNvCxnSpPr/>
          <p:nvPr/>
        </p:nvCxnSpPr>
        <p:spPr>
          <a:xfrm>
            <a:off x="1071716" y="1130710"/>
            <a:ext cx="101665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7FD43F18-41F2-C212-1EEE-E710E2E46F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17" t="29519" r="8588" b="30292"/>
          <a:stretch>
            <a:fillRect/>
          </a:stretch>
        </p:blipFill>
        <p:spPr>
          <a:xfrm>
            <a:off x="7662313" y="1323677"/>
            <a:ext cx="1456208" cy="4752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01B239-F343-A715-3CA9-C1548014D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8625" r="93125">
                        <a14:foregroundMark x1="8625" y1="61375" x2="8625" y2="61375"/>
                        <a14:foregroundMark x1="30500" y1="63250" x2="30500" y2="63250"/>
                        <a14:foregroundMark x1="46875" y1="60250" x2="46875" y2="60250"/>
                        <a14:foregroundMark x1="60875" y1="62250" x2="60875" y2="62250"/>
                        <a14:foregroundMark x1="76625" y1="60500" x2="76625" y2="60500"/>
                        <a14:foregroundMark x1="93125" y1="66125" x2="93125" y2="66125"/>
                        <a14:foregroundMark x1="65625" y1="44625" x2="65625" y2="44625"/>
                        <a14:foregroundMark x1="87375" y1="49000" x2="87375" y2="49000"/>
                        <a14:foregroundMark x1="67750" y1="33375" x2="67750" y2="33375"/>
                      </a14:backgroundRemoval>
                    </a14:imgEffect>
                  </a14:imgLayer>
                </a14:imgProps>
              </a:ext>
            </a:extLst>
          </a:blip>
          <a:srcRect t="26641" b="24026"/>
          <a:stretch>
            <a:fillRect/>
          </a:stretch>
        </p:blipFill>
        <p:spPr>
          <a:xfrm>
            <a:off x="2194833" y="1186029"/>
            <a:ext cx="1169491" cy="5769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E49AC7-3301-6073-EC05-80818F3568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716" y="1780184"/>
            <a:ext cx="3851286" cy="2196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1B5C59-6B50-9FE7-F171-E361FCA78C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566" y="4619795"/>
            <a:ext cx="4191585" cy="9145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75BE2F-7DA5-0D1A-BE03-FB4B21191A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6402" y="1785971"/>
            <a:ext cx="4098952" cy="198559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71DEEB0-F06F-BC6F-A6FD-C064817DF9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4256" y="4231656"/>
            <a:ext cx="3372321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9361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B1D4E-4488-F3B7-A9A2-E4042B5AC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44727B3-0EFC-D491-8EF5-71CC38CA2F70}"/>
              </a:ext>
            </a:extLst>
          </p:cNvPr>
          <p:cNvSpPr txBox="1">
            <a:spLocks/>
          </p:cNvSpPr>
          <p:nvPr/>
        </p:nvSpPr>
        <p:spPr>
          <a:xfrm>
            <a:off x="570271" y="286603"/>
            <a:ext cx="10668000" cy="745784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4. Calculate the retention rate of customers (customers who make another purchase within 6 months of their first purchase).</a:t>
            </a:r>
            <a:endParaRPr lang="en-IN" sz="4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C251C5D-9126-BA80-1FC6-DED3E833280C}"/>
              </a:ext>
            </a:extLst>
          </p:cNvPr>
          <p:cNvCxnSpPr/>
          <p:nvPr/>
        </p:nvCxnSpPr>
        <p:spPr>
          <a:xfrm>
            <a:off x="1071716" y="1130710"/>
            <a:ext cx="101665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1943E606-C193-9607-D531-3F4D781787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17" t="29519" r="8588" b="30292"/>
          <a:stretch>
            <a:fillRect/>
          </a:stretch>
        </p:blipFill>
        <p:spPr>
          <a:xfrm>
            <a:off x="7662313" y="1323677"/>
            <a:ext cx="1456208" cy="4752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7C336A8-D06B-3F34-ED8F-D438EE24BF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8625" r="93125">
                        <a14:foregroundMark x1="8625" y1="61375" x2="8625" y2="61375"/>
                        <a14:foregroundMark x1="30500" y1="63250" x2="30500" y2="63250"/>
                        <a14:foregroundMark x1="46875" y1="60250" x2="46875" y2="60250"/>
                        <a14:foregroundMark x1="60875" y1="62250" x2="60875" y2="62250"/>
                        <a14:foregroundMark x1="76625" y1="60500" x2="76625" y2="60500"/>
                        <a14:foregroundMark x1="93125" y1="66125" x2="93125" y2="66125"/>
                        <a14:foregroundMark x1="65625" y1="44625" x2="65625" y2="44625"/>
                        <a14:foregroundMark x1="87375" y1="49000" x2="87375" y2="49000"/>
                        <a14:foregroundMark x1="67750" y1="33375" x2="67750" y2="33375"/>
                      </a14:backgroundRemoval>
                    </a14:imgEffect>
                  </a14:imgLayer>
                </a14:imgProps>
              </a:ext>
            </a:extLst>
          </a:blip>
          <a:srcRect t="26641" b="24026"/>
          <a:stretch>
            <a:fillRect/>
          </a:stretch>
        </p:blipFill>
        <p:spPr>
          <a:xfrm>
            <a:off x="2194833" y="1186029"/>
            <a:ext cx="1169491" cy="576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7CC8A1-069E-ED44-D33D-A9C99932B0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193" y="1870088"/>
            <a:ext cx="4443281" cy="19855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6EDCC41-058A-F6BE-5BAD-A5CB559950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9402" y="4608076"/>
            <a:ext cx="3139916" cy="7111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A972EE2-A9FB-9907-D74F-EFF1BACC98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4693" y="1798925"/>
            <a:ext cx="3499156" cy="220519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2415819-1352-3EC1-1B09-55180E83B2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4693" y="4718119"/>
            <a:ext cx="3296110" cy="3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103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3BC6B-AF62-B154-456D-E06AE81FB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57DF5AC-9E0A-ED16-C877-9DB6E21D8BB2}"/>
              </a:ext>
            </a:extLst>
          </p:cNvPr>
          <p:cNvSpPr txBox="1">
            <a:spLocks/>
          </p:cNvSpPr>
          <p:nvPr/>
        </p:nvSpPr>
        <p:spPr>
          <a:xfrm>
            <a:off x="570271" y="286603"/>
            <a:ext cx="10668000" cy="745784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5. Identify the top 3 customers who spent the most money in each year.</a:t>
            </a:r>
            <a:endParaRPr lang="en-IN" sz="4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9490C59-0B4B-94AF-9A3F-CB73BA395A88}"/>
              </a:ext>
            </a:extLst>
          </p:cNvPr>
          <p:cNvCxnSpPr/>
          <p:nvPr/>
        </p:nvCxnSpPr>
        <p:spPr>
          <a:xfrm>
            <a:off x="1071716" y="1130710"/>
            <a:ext cx="101665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44D3333F-D96F-88CC-1A8B-3DFEC660B7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17" t="29519" r="8588" b="30292"/>
          <a:stretch>
            <a:fillRect/>
          </a:stretch>
        </p:blipFill>
        <p:spPr>
          <a:xfrm>
            <a:off x="7662313" y="1323677"/>
            <a:ext cx="1456208" cy="4752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F3738F-1AAB-01EA-F1E8-06A204FE40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8625" r="93125">
                        <a14:foregroundMark x1="8625" y1="61375" x2="8625" y2="61375"/>
                        <a14:foregroundMark x1="30500" y1="63250" x2="30500" y2="63250"/>
                        <a14:foregroundMark x1="46875" y1="60250" x2="46875" y2="60250"/>
                        <a14:foregroundMark x1="60875" y1="62250" x2="60875" y2="62250"/>
                        <a14:foregroundMark x1="76625" y1="60500" x2="76625" y2="60500"/>
                        <a14:foregroundMark x1="93125" y1="66125" x2="93125" y2="66125"/>
                        <a14:foregroundMark x1="65625" y1="44625" x2="65625" y2="44625"/>
                        <a14:foregroundMark x1="87375" y1="49000" x2="87375" y2="49000"/>
                        <a14:foregroundMark x1="67750" y1="33375" x2="67750" y2="33375"/>
                      </a14:backgroundRemoval>
                    </a14:imgEffect>
                  </a14:imgLayer>
                </a14:imgProps>
              </a:ext>
            </a:extLst>
          </a:blip>
          <a:srcRect t="26641" b="24026"/>
          <a:stretch>
            <a:fillRect/>
          </a:stretch>
        </p:blipFill>
        <p:spPr>
          <a:xfrm>
            <a:off x="2194833" y="1235189"/>
            <a:ext cx="1169491" cy="5769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DB50FC-D9C6-EBF6-1017-E6586C3C93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716" y="1841634"/>
            <a:ext cx="3707852" cy="22051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241A2D-CA17-A0CF-C3F8-754A200CC7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6748" y="4233578"/>
            <a:ext cx="3810532" cy="18862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720A7B-A141-D64C-DFF3-C4C05CAC08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6490" y="1882060"/>
            <a:ext cx="5173794" cy="17443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F67B24E-2C34-DBA0-8E7F-5901F2634D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0045" y="3810853"/>
            <a:ext cx="3570716" cy="2464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8426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BF0B6-E078-0CEE-27ED-95EB543DF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56D56-A286-BDB5-32EA-9AC443600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8044" y="4680155"/>
            <a:ext cx="2717636" cy="668593"/>
          </a:xfrm>
        </p:spPr>
        <p:txBody>
          <a:bodyPr/>
          <a:lstStyle/>
          <a:p>
            <a:r>
              <a:rPr lang="fr-FR" dirty="0"/>
              <a:t>By Swansik Tete</a:t>
            </a:r>
          </a:p>
          <a:p>
            <a:endParaRPr lang="fr-FR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11272AC-44B5-B961-C0C9-19D171E5DFC3}"/>
              </a:ext>
            </a:extLst>
          </p:cNvPr>
          <p:cNvSpPr txBox="1">
            <a:spLocks/>
          </p:cNvSpPr>
          <p:nvPr/>
        </p:nvSpPr>
        <p:spPr>
          <a:xfrm>
            <a:off x="1097280" y="2227007"/>
            <a:ext cx="10058400" cy="171987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/>
              <a:t>Email: </a:t>
            </a:r>
            <a:r>
              <a:rPr lang="fr-FR" dirty="0">
                <a:hlinkClick r:id="rId2"/>
              </a:rPr>
              <a:t>teteswansik@mail.com</a:t>
            </a:r>
            <a:endParaRPr lang="fr-FR" dirty="0"/>
          </a:p>
          <a:p>
            <a:r>
              <a:rPr lang="fr-FR" b="1" dirty="0"/>
              <a:t>GitHub: </a:t>
            </a:r>
            <a:r>
              <a:rPr lang="fr-FR" dirty="0">
                <a:hlinkClick r:id="rId3"/>
              </a:rPr>
              <a:t>https://github.com/Swansik-Tete</a:t>
            </a:r>
            <a:endParaRPr lang="fr-FR" dirty="0"/>
          </a:p>
          <a:p>
            <a:r>
              <a:rPr lang="fr-FR" b="1" dirty="0"/>
              <a:t>LinkedIn:</a:t>
            </a:r>
            <a:r>
              <a:rPr lang="fr-FR" dirty="0"/>
              <a:t> </a:t>
            </a:r>
            <a:r>
              <a:rPr lang="fr-FR" dirty="0">
                <a:hlinkClick r:id="rId4"/>
              </a:rPr>
              <a:t>www.linkedin.com/in/swansik-tete-9628362a1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1231541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96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A1BFDC2-8A82-48CC-A361-4FE7F9F5259D}">
  <we:reference id="wa104379997" version="3.0.0.0" store="en-US" storeType="OMEX"/>
  <we:alternateReferences>
    <we:reference id="wa104379997" version="3.0.0.0" store="wa104379997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F3CD65D-61A5-43C9-A837-6EC73C7DA8A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6377351-63A1-4C2E-8C9A-66CDD70F1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{37943FAC-2A17-4FD2-A4C1-9819EF4078C9}TF235124e3-e6db-4c6d-93c8-733f2fadbc609fb6f57c_win32-b1e91d96f19e</Template>
  <TotalTime>371</TotalTime>
  <Words>516</Words>
  <Application>Microsoft Office PowerPoint</Application>
  <PresentationFormat>Widescreen</PresentationFormat>
  <Paragraphs>59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Georgia Pro Cond Light</vt:lpstr>
      <vt:lpstr>Speak Pro</vt:lpstr>
      <vt:lpstr>RetrospectVTI</vt:lpstr>
      <vt:lpstr>NAVIGATING THE FUTURE OF ONLINE SHOPPING</vt:lpstr>
      <vt:lpstr>About Business</vt:lpstr>
      <vt:lpstr>Purpose of Analysis</vt:lpstr>
      <vt:lpstr>Dataset Overview</vt:lpstr>
      <vt:lpstr>WORKFLOW AND TOOLS</vt:lpstr>
      <vt:lpstr>PowerPoint Presentation</vt:lpstr>
      <vt:lpstr>BASIC PROBLEMS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INTERMEDIATE PROBLEMS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ADVANCED PROBLEMS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shwana tete</dc:creator>
  <cp:lastModifiedBy>shwana tete</cp:lastModifiedBy>
  <cp:revision>13</cp:revision>
  <dcterms:created xsi:type="dcterms:W3CDTF">2026-04-20T14:28:08Z</dcterms:created>
  <dcterms:modified xsi:type="dcterms:W3CDTF">2026-05-02T09:52:00Z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